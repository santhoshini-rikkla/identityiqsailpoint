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SailPoint IdentityIQ</a:t>
            </a:r>
          </a:p>
          <a:p>
            <a:pPr>
              <a:defRPr sz="4200" b="1">
                <a:solidFill>
                  <a:srgbClr val="FFFFFF"/>
                </a:solidFill>
              </a:defRPr>
            </a:pPr>
            <a:r>
              <a:t>Lifecycle Events</a:t>
            </a:r>
          </a:p>
          <a:p>
            <a:pPr>
              <a:defRPr sz="2000">
                <a:solidFill>
                  <a:srgbClr val="D2E1F0"/>
                </a:solidFill>
              </a:defRPr>
            </a:pPr>
            <a:r>
              <a:t>Concepts • Configuration • Real-world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257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Training session for Junior IIQ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Understand what a Lifecycle Event is and why it is used</a:t>
            </a:r>
          </a:p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Learn the major Lifecycle Event types</a:t>
            </a:r>
          </a:p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Understand how Lifecycle Events connect to Business Processes</a:t>
            </a:r>
          </a:p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Configure Manager Transfer and Attribute Change scenarios</a:t>
            </a:r>
          </a:p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Understand Include Identities and Processing Thresholds</a:t>
            </a:r>
          </a:p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Differentiate Identity Refresh, Lifecycle Event, and Business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What is a Lifecycle Event?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The easiest definition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743200" cy="105156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282D34"/>
                </a:solidFill>
              </a:defRPr>
            </a:pPr>
            <a:r>
              <a:t>Something happens / changes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0" y="2359152"/>
            <a:ext cx="7315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51960" y="1828800"/>
            <a:ext cx="2743200" cy="10515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282D34"/>
                </a:solidFill>
              </a:defRPr>
            </a:pPr>
            <a:r>
              <a:t>Lifecycle Event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40880" y="2359152"/>
            <a:ext cx="7315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863840" y="1828800"/>
            <a:ext cx="3108960" cy="105156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282D34"/>
                </a:solidFill>
              </a:defRPr>
            </a:pPr>
            <a:r>
              <a:t>Business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Lifecycle Events are configured to react to qualifying identity/application events.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During identity processing, when the configured condition is detected, the associated Business Process can be launched.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Think: Lifecycle Event = TRIGGER; Business Process = WHAT HAPPENS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Why Do We Need Lifecycle Events?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Automate actions when employee information changes</a:t>
            </a:r>
          </a:p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Reduce manual intervention for common identity events</a:t>
            </a:r>
          </a:p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Respond to manager changes, attribute changes, new identities, alerts, and other supported events</a:t>
            </a:r>
          </a:p>
          <a:p>
            <a:pPr>
              <a:spcAft>
                <a:spcPts val="1200"/>
              </a:spcAft>
              <a:defRPr sz="2100" b="0">
                <a:solidFill>
                  <a:srgbClr val="282D34"/>
                </a:solidFill>
              </a:defRPr>
            </a:pPr>
            <a:r>
              <a:t>Connect identity changes to notifications, approvals, requests, or other configured Business Process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5074920"/>
            <a:ext cx="9784080" cy="731520"/>
          </a:xfrm>
          <a:prstGeom prst="roundRect">
            <a:avLst/>
          </a:prstGeom>
          <a:solidFill>
            <a:srgbClr val="E8F2F9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82D34"/>
                </a:solidFill>
              </a:defRPr>
            </a:pPr>
            <a:r>
              <a:t>Example: Manager changes → automatically start a process for the new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Lifecycle Event – End-to-End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2331720"/>
            <a:ext cx="1325880" cy="82296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82D34"/>
                </a:solidFill>
              </a:defRPr>
            </a:pPr>
            <a:r>
              <a:t>Source / HR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54480" y="2743200"/>
            <a:ext cx="274319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874519" y="2331720"/>
            <a:ext cx="1325880" cy="82296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82D34"/>
                </a:solidFill>
              </a:defRPr>
            </a:pPr>
            <a:r>
              <a:t>Aggregation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2743200"/>
            <a:ext cx="2743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20440" y="2331720"/>
            <a:ext cx="1325880" cy="82296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82D34"/>
                </a:solidFill>
              </a:defRPr>
            </a:pPr>
            <a:r>
              <a:t>Identity Refresh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743200"/>
            <a:ext cx="2743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2331720"/>
            <a:ext cx="1325880" cy="82296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82D34"/>
                </a:solidFill>
              </a:defRPr>
            </a:pPr>
            <a:r>
              <a:t>Change Detected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2743200"/>
            <a:ext cx="2743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12280" y="2331720"/>
            <a:ext cx="1325880" cy="822960"/>
          </a:xfrm>
          <a:prstGeom prst="roundRect">
            <a:avLst/>
          </a:prstGeom>
          <a:solidFill>
            <a:srgbClr val="E1EEFA"/>
          </a:solidFill>
          <a:ln>
            <a:solidFill>
              <a:srgbClr val="DC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82D34"/>
                </a:solidFill>
              </a:defRPr>
            </a:pPr>
            <a:r>
              <a:t>Lifecycle Event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38160" y="2743200"/>
            <a:ext cx="2743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58200" y="2331720"/>
            <a:ext cx="1325880" cy="82296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82D34"/>
                </a:solidFill>
              </a:defRPr>
            </a:pPr>
            <a:r>
              <a:t>Business Process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84080" y="2743200"/>
            <a:ext cx="2743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331720"/>
            <a:ext cx="1325880" cy="82296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82D34"/>
                </a:solidFill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82D34"/>
                </a:solidFill>
              </a:defRPr>
            </a:pPr>
            <a:r>
              <a:t>Key idea: Aggregation brings data in. Identity processing detects changes. The Lifecycle Event reacts to a qualifying event and launches the configured Business Process.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Where Do We Configure Lifecycle Events?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2057400"/>
            <a:ext cx="2011680" cy="91440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282D34"/>
                </a:solidFill>
              </a:defRPr>
            </a:pPr>
            <a:r>
              <a:t>IdentityIQ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63240" y="2514600"/>
            <a:ext cx="82296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77639" y="2057400"/>
            <a:ext cx="1828800" cy="91440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282D34"/>
                </a:solidFill>
              </a:defRPr>
            </a:pPr>
            <a:r>
              <a:t>Setup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2514600"/>
            <a:ext cx="82296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766560" y="2057400"/>
            <a:ext cx="274320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282D34"/>
                </a:solidFill>
              </a:defRPr>
            </a:pPr>
            <a:r>
              <a:t>Lifecycle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Requires appropriate IdentityIQ administrative capabilities.</a:t>
            </a:r>
          </a:p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From the Lifecycle Events page, you can create, edit, enable, disable, and review configured 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Lifecycle Events Page – Important Fields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2011680" cy="5943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1325880"/>
            <a:ext cx="8138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Friendly name used to identify the event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011680" cy="5943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2148840"/>
            <a:ext cx="8138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The event type that determines the 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71800"/>
            <a:ext cx="2011680" cy="5943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Attribute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971800"/>
            <a:ext cx="8138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Relevant attribute for Attribute Change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2011680" cy="5943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794760"/>
            <a:ext cx="8138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User associated with creating/owning the 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2011680" cy="5943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Disabled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4617720"/>
            <a:ext cx="8138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Whether the event is enabled or disabled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Lifecycle Event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828800" cy="64008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Create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123444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New identity is discovered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828800" cy="64008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Manager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37744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Manager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20440"/>
            <a:ext cx="1828800" cy="64008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Attribute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52044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Specified identity attribute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828800" cy="64008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466344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Rule determines whether to launch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1828800" cy="64008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Native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23444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Native application change is passed to IIQ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1828800" cy="64008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37744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An alert is triggered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520440"/>
            <a:ext cx="1828800" cy="64008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Rapid Setup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520440"/>
            <a:ext cx="3200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Evaluated in a Rapid Setup process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Create Event – Basic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4937760" cy="713232"/>
          </a:xfrm>
          <a:prstGeom prst="roundRect">
            <a:avLst/>
          </a:prstGeom>
          <a:solidFill>
            <a:srgbClr val="F6F8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79" y="1234440"/>
            <a:ext cx="4937760" cy="713232"/>
          </a:xfrm>
          <a:prstGeom prst="roundRect">
            <a:avLst/>
          </a:prstGeom>
          <a:solidFill>
            <a:srgbClr val="F6F8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4937760" cy="713232"/>
          </a:xfrm>
          <a:prstGeom prst="roundRect">
            <a:avLst/>
          </a:prstGeom>
          <a:solidFill>
            <a:srgbClr val="F6F8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Event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79" y="2377440"/>
            <a:ext cx="4937760" cy="713232"/>
          </a:xfrm>
          <a:prstGeom prst="roundRect">
            <a:avLst/>
          </a:prstGeom>
          <a:solidFill>
            <a:srgbClr val="F6F8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Event-specific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20440"/>
            <a:ext cx="4937760" cy="713232"/>
          </a:xfrm>
          <a:prstGeom prst="roundRect">
            <a:avLst/>
          </a:prstGeom>
          <a:solidFill>
            <a:srgbClr val="F6F8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Include Identities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3520440"/>
            <a:ext cx="4937760" cy="713232"/>
          </a:xfrm>
          <a:prstGeom prst="roundRect">
            <a:avLst/>
          </a:prstGeom>
          <a:solidFill>
            <a:srgbClr val="F6F8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63440"/>
            <a:ext cx="4937760" cy="713232"/>
          </a:xfrm>
          <a:prstGeom prst="roundRect">
            <a:avLst/>
          </a:prstGeom>
          <a:solidFill>
            <a:srgbClr val="F6F8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Business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4663440"/>
            <a:ext cx="4937760" cy="713232"/>
          </a:xfrm>
          <a:prstGeom prst="roundRect">
            <a:avLst/>
          </a:prstGeom>
          <a:solidFill>
            <a:srgbClr val="F6F8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Disabled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Manager Transfer – Real-World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828800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82D34"/>
                </a:solidFill>
              </a:defRPr>
            </a:pPr>
            <a:r>
              <a:t>Before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23160"/>
            <a:ext cx="2011680" cy="82296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82D34"/>
                </a:solidFill>
              </a:defRPr>
            </a:pPr>
            <a:r>
              <a:t>Ravi → John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63240" y="2834640"/>
            <a:ext cx="914399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69080" y="2240280"/>
            <a:ext cx="2377440" cy="1188720"/>
          </a:xfrm>
          <a:prstGeom prst="roundRect">
            <a:avLst/>
          </a:prstGeom>
          <a:solidFill>
            <a:srgbClr val="FFF4E0"/>
          </a:solidFill>
          <a:ln>
            <a:solidFill>
              <a:srgbClr val="DC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82D34"/>
                </a:solidFill>
              </a:defRPr>
            </a:pPr>
            <a:r>
              <a:t>Manager changes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37960" y="2834640"/>
            <a:ext cx="86868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498079" y="1508760"/>
            <a:ext cx="1828800" cy="685800"/>
          </a:xfrm>
          <a:prstGeom prst="roundRect">
            <a:avLst/>
          </a:prstGeom>
          <a:solidFill>
            <a:srgbClr val="F5F5F5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82D34"/>
                </a:solidFill>
              </a:defRPr>
            </a:pPr>
            <a:r>
              <a:t>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423160"/>
            <a:ext cx="2011680" cy="82296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82D34"/>
                </a:solidFill>
              </a:defRPr>
            </a:pPr>
            <a:r>
              <a:t>Ravi → Smith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4069080"/>
            <a:ext cx="3657600" cy="96012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Lifecycle Event</a:t>
            </a:r>
            <a:br/>
            <a:r>
              <a:t>Type = Manager Transfer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4069080"/>
            <a:ext cx="3017520" cy="96012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Business Process</a:t>
            </a:r>
            <a:br/>
            <a:r>
              <a:t>(e.g., notify new manager)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52360" y="4572000"/>
            <a:ext cx="41148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Attribute Change – Real-World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2286000" cy="91440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82D34"/>
                </a:solidFill>
              </a:defRPr>
            </a:pPr>
            <a:r>
              <a:t>Identity Attribute</a:t>
            </a:r>
            <a:br/>
            <a:r>
              <a:t>Department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63240" y="1965960"/>
            <a:ext cx="77724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31920" y="1417320"/>
            <a:ext cx="1737360" cy="1143000"/>
          </a:xfrm>
          <a:prstGeom prst="roundRect">
            <a:avLst/>
          </a:prstGeom>
          <a:solidFill>
            <a:srgbClr val="FFF4E0"/>
          </a:solidFill>
          <a:ln>
            <a:solidFill>
              <a:srgbClr val="DC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282D34"/>
                </a:solidFill>
              </a:defRPr>
            </a:pPr>
            <a:r>
              <a:t>Finance</a:t>
            </a:r>
            <a:br/>
            <a:r>
              <a:t>↓</a:t>
            </a:r>
            <a:br/>
            <a:r>
              <a:t>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720" y="1965960"/>
            <a:ext cx="77724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629400" y="1508760"/>
            <a:ext cx="237744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Attribute Change</a:t>
            </a:r>
            <a:br/>
            <a:r>
              <a:t>Lifecycle Event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98280" y="1965960"/>
            <a:ext cx="7315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921240" y="1508760"/>
            <a:ext cx="1554480" cy="91440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Business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Attribute = Department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Previous Value Filter = Finance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New Value Filter = IT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Only the configured transition is targeted.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Rule, Native Change, Alert &amp; Rapid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Rule – use a rule when custom logic is needed to determine whether the event should launch a Business Process.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Native Change – responds to a change on a native application when the application is configured to pass that information to IIQ.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Alert – launches the configured Business Process when an alert event occurs.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Rapid Setup – evaluates the lifecycle event in the selected Rapid Setup business process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5394960"/>
            <a:ext cx="1051560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82D34"/>
                </a:solidFill>
              </a:defRPr>
            </a:pPr>
            <a:r>
              <a:t>Tip: Teach the common types first (Create, Manager Transfer, Attribute Change). Then introduce the advanced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Include Identities – Who Should Be Processed?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645920" cy="6858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None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1143000"/>
            <a:ext cx="3611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Only explicitly included identities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143000"/>
            <a:ext cx="1645920" cy="6858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43000"/>
            <a:ext cx="3611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All identities in the population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645920" cy="6858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Match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331720"/>
            <a:ext cx="3611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Match identity/application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331720"/>
            <a:ext cx="1645920" cy="6858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Filter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331720"/>
            <a:ext cx="3611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Custom database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1645920" cy="6858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3520440"/>
            <a:ext cx="3611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Custom 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520440"/>
            <a:ext cx="1645920" cy="6858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Rule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520440"/>
            <a:ext cx="3611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Existing rule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09160"/>
            <a:ext cx="1645920" cy="6858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82D34"/>
                </a:solidFill>
              </a:defRPr>
            </a:pPr>
            <a:r>
              <a:t>Population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4709160"/>
            <a:ext cx="36118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>
                <a:solidFill>
                  <a:srgbClr val="282D34"/>
                </a:solidFill>
              </a:defRPr>
            </a:pPr>
            <a:r>
              <a:t>Existing population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Threshold – A Safety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377440" cy="105156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Potentially huge</a:t>
            </a:r>
            <a:br/>
            <a:r>
              <a:t>number of identities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46120" y="2176272"/>
            <a:ext cx="82296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60520" y="1600200"/>
            <a:ext cx="2743200" cy="1143000"/>
          </a:xfrm>
          <a:prstGeom prst="roundRect">
            <a:avLst/>
          </a:prstGeom>
          <a:solidFill>
            <a:srgbClr val="FFF4E0"/>
          </a:solidFill>
          <a:ln>
            <a:solidFill>
              <a:srgbClr val="DC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282D34"/>
                </a:solidFill>
              </a:defRPr>
            </a:pPr>
            <a:r>
              <a:t>Identity Processing</a:t>
            </a:r>
            <a:br/>
            <a:r>
              <a:t>Threshold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040880" y="2176272"/>
            <a:ext cx="82296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955279" y="1645920"/>
            <a:ext cx="2743200" cy="105156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Stop / prevent</a:t>
            </a:r>
            <a:br/>
            <a:r>
              <a:t>accidental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Fixed – positive whole number greater than 1.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Percentage – positive whole number from 1 to 100.</a:t>
            </a:r>
          </a:p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Use it as an error-prevention control when an event could unexpectedly apply to many identities.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Business Process – What Happens Next?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57400"/>
            <a:ext cx="219456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282D34"/>
                </a:solidFill>
              </a:defRPr>
            </a:pPr>
            <a:r>
              <a:t>Lifecycle Event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08960" y="2514600"/>
            <a:ext cx="9601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60520" y="2057400"/>
            <a:ext cx="2560320" cy="91440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1">
                <a:solidFill>
                  <a:srgbClr val="282D34"/>
                </a:solidFill>
              </a:defRPr>
            </a:pPr>
            <a:r>
              <a:t>Business Process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0" y="2514600"/>
            <a:ext cx="960120" cy="0"/>
          </a:xfrm>
          <a:prstGeom prst="line">
            <a:avLst/>
          </a:prstGeom>
          <a:ln w="31750"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909560" y="1417320"/>
            <a:ext cx="2926080" cy="640080"/>
          </a:xfrm>
          <a:prstGeom prst="roundRect">
            <a:avLst/>
          </a:prstGeom>
          <a:solidFill>
            <a:srgbClr val="F0F5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82D34"/>
                </a:solidFill>
              </a:defRPr>
            </a:pPr>
            <a:r>
              <a:t>Configured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240280"/>
            <a:ext cx="2926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>
                <a:solidFill>
                  <a:srgbClr val="282D34"/>
                </a:solidFill>
              </a:defRPr>
            </a:pPr>
            <a:r>
              <a:t>Notification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063240"/>
            <a:ext cx="2926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>
                <a:solidFill>
                  <a:srgbClr val="282D34"/>
                </a:solidFill>
              </a:defRPr>
            </a:pPr>
            <a:r>
              <a:t>Request /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82D34"/>
                </a:solidFill>
              </a:defRPr>
            </a:pPr>
            <a:r>
              <a:t>Remember: the Lifecycle Event identifies the trigger; the Business Process defines the processing that follows.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Lifecycle Event vs Identity Refresh vs Business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2240280" cy="8229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82D34"/>
                </a:solidFill>
              </a:defRPr>
            </a:pPr>
            <a:r>
              <a:t>Identity Refresh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41732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Evaluates/updates identity information and can detect relevant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17320"/>
            <a:ext cx="2743200" cy="82296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HOW changes are evaluated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2240280" cy="8229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82D34"/>
                </a:solidFill>
              </a:defRPr>
            </a:pPr>
            <a:r>
              <a:t>Lifecycle 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60604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Defines the event/condition that can trigger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606040"/>
            <a:ext cx="2743200" cy="82296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WHEN to 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94760"/>
            <a:ext cx="2240280" cy="82296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282D34"/>
                </a:solidFill>
              </a:defRPr>
            </a:pPr>
            <a:r>
              <a:t>Business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794760"/>
            <a:ext cx="5303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Defines the process/actions launched by the event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794760"/>
            <a:ext cx="2743200" cy="82296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WHAT happens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5257800"/>
            <a:ext cx="9875520" cy="731520"/>
          </a:xfrm>
          <a:prstGeom prst="roundRect">
            <a:avLst/>
          </a:prstGeom>
          <a:solidFill>
            <a:srgbClr val="F5F8FB"/>
          </a:solidFill>
          <a:ln>
            <a:solidFill>
              <a:srgbClr val="18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82D34"/>
                </a:solidFill>
              </a:defRPr>
            </a:pPr>
            <a:r>
              <a:t>Easy memory aid: Identity Refresh detects → Lifecycle Event triggers → Business Process 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End-to-End Configuration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8"/>
                </a:solidFill>
              </a:defRPr>
            </a:pPr>
            <a:r>
              <a:t>Requirement: Finance → IT should trigger a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548640" cy="54864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051560"/>
            <a:ext cx="2468880" cy="54864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Event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051560"/>
            <a:ext cx="722376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Attribute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39"/>
            <a:ext cx="548640" cy="54864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691639"/>
            <a:ext cx="2468880" cy="54864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Attribute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91639"/>
            <a:ext cx="722376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48640" cy="54864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331720"/>
            <a:ext cx="2468880" cy="54864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Previous 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331720"/>
            <a:ext cx="722376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Finance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548640" cy="54864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2971800"/>
            <a:ext cx="2468880" cy="54864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New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971800"/>
            <a:ext cx="722376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48640" cy="54864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3611880"/>
            <a:ext cx="2468880" cy="54864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Include Identities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611880"/>
            <a:ext cx="722376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As required by the business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51960"/>
            <a:ext cx="548640" cy="54864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251960"/>
            <a:ext cx="2468880" cy="54864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Threshold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4251960"/>
            <a:ext cx="722376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Set an appropriate safety limit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548640" cy="54864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4892040"/>
            <a:ext cx="2468880" cy="54864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Business Process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4892040"/>
            <a:ext cx="722376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Select the required configured process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32120"/>
            <a:ext cx="548640" cy="54864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" y="5532120"/>
            <a:ext cx="2468880" cy="548640"/>
          </a:xfrm>
          <a:prstGeom prst="roundRect">
            <a:avLst/>
          </a:prstGeom>
          <a:solidFill>
            <a:srgbClr val="F0F5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Disabled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5532120"/>
            <a:ext cx="722376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>
                <a:solidFill>
                  <a:srgbClr val="282D34"/>
                </a:solidFill>
              </a:defRPr>
            </a:pPr>
            <a:r>
              <a:t>Ensure the event is enabled when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A48"/>
                </a:solidFill>
              </a:defRPr>
            </a:pPr>
            <a:r>
              <a:t>Scenario Quiz – Test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1. Employee manager changes. Which Event Type?</a:t>
            </a:r>
          </a:p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2. Department changes from Finance to IT. Which Event Type and filters?</a:t>
            </a:r>
          </a:p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3. Only a specific employee population should be processed. Which configuration area?</a:t>
            </a:r>
          </a:p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4. Custom logic decides whether an event should trigger. Which Event Type?</a:t>
            </a:r>
          </a:p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5. What component performs the actual downstream process?</a:t>
            </a:r>
          </a:p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6. What protects against accidental processing of a very large population?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486400"/>
            <a:ext cx="10789920" cy="68580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82D34"/>
                </a:solidFill>
              </a:defRPr>
            </a:pPr>
            <a:r>
              <a:t>Answers: 1) Manager Transfer  2) Attribute Change + Previous/New Value  3) Include Identities  4) Rule  5) Business Process  6)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08960" cy="914400"/>
          </a:xfrm>
          <a:prstGeom prst="roundRect">
            <a:avLst/>
          </a:prstGeom>
          <a:solidFill>
            <a:srgbClr val="E1EEFA"/>
          </a:solidFill>
          <a:ln>
            <a:solidFill>
              <a:srgbClr val="2D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282D34"/>
                </a:solidFill>
              </a:defRPr>
            </a:pPr>
            <a:r>
              <a:t>Lifecycle Event = TRIGGER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920240"/>
            <a:ext cx="3200400" cy="914400"/>
          </a:xfrm>
          <a:prstGeom prst="roundRect">
            <a:avLst/>
          </a:prstGeom>
          <a:solidFill>
            <a:srgbClr val="E6F2E9"/>
          </a:solidFill>
          <a:ln>
            <a:solidFill>
              <a:srgbClr val="41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282D34"/>
                </a:solidFill>
              </a:defRPr>
            </a:pPr>
            <a:r>
              <a:t>Business Process =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920240"/>
            <a:ext cx="2560320" cy="914400"/>
          </a:xfrm>
          <a:prstGeom prst="roundRect">
            <a:avLst/>
          </a:prstGeom>
          <a:solidFill>
            <a:srgbClr val="FFF4E0"/>
          </a:solidFill>
          <a:ln>
            <a:solidFill>
              <a:srgbClr val="DC8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>
                <a:solidFill>
                  <a:srgbClr val="282D34"/>
                </a:solidFill>
              </a:defRPr>
            </a:pPr>
            <a:r>
              <a:t>Threshold =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Understand the event first, then configure the scope and action.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Start with common scenarios: Create, Manager Transfer, Attribute Change.</a:t>
            </a:r>
          </a:p>
          <a:p>
            <a:pPr>
              <a:spcAft>
                <a:spcPts val="1200"/>
              </a:spcAft>
              <a:defRPr sz="2000" b="0">
                <a:solidFill>
                  <a:srgbClr val="282D34"/>
                </a:solidFill>
              </a:defRPr>
            </a:pPr>
            <a:r>
              <a:t>Use real business requirements to decide filters, populations, rules, and thresholds.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